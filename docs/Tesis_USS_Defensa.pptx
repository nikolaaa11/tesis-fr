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2703D"/>
                </a:solidFill>
                <a:latin typeface="Calibri"/>
              </a:rPr>
              <a:t>UNIVERSIDAD SAN SEBASTIÁN · Magíster en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El cobre, la bolsa y la liquidez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FD6E2"/>
                </a:solidFill>
                <a:latin typeface="Calibri"/>
              </a:rPr>
              <a:t>Impacto de las variables macroeconómicas globales y financieras en la valoración bursátil del sector de minería de cobre en Chile (2004–2026)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B4C2"/>
                </a:solidFill>
                <a:latin typeface="Calibri"/>
              </a:rPr>
              <a:t>Defensa de tesis · Autor: ____________  ·  Profesor guía: ____________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703D"/>
                </a:solidFill>
                <a:latin typeface="Calibri"/>
              </a:rPr>
              <a:t>01 · 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6243A"/>
                </a:solidFill>
                <a:latin typeface="Georgia"/>
              </a:rPr>
              <a:t>Una pregunta poco estudiada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38100"/>
          </a:xfrm>
          <a:prstGeom prst="rect">
            <a:avLst/>
          </a:prstGeom>
          <a:solidFill>
            <a:srgbClr val="C2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Chile: ~¼ de la producción mundial de cobre; el metal es ~½ de las exportaciones.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Brecha: la literatura cubre cobre→tipo de cambio→macro, pero no cobre→valoración minera.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Restricción: universo de mineras de cobre cotizadas mínimo (Codelco no cotiza).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Pregunta: magnitud, dinámica y rol de la liquidez en la transmisión cobre→acción.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703D"/>
                </a:solidFill>
                <a:latin typeface="Calibri"/>
              </a:rPr>
              <a:t>02 · Universo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6243A"/>
                </a:solidFill>
                <a:latin typeface="Georgia"/>
              </a:rPr>
              <a:t>Resuelto con evidencia empírica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38100"/>
          </a:xfrm>
          <a:prstGeom prst="rect">
            <a:avLst/>
          </a:prstGeom>
          <a:solidFill>
            <a:srgbClr val="C2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Antofagasta plc (LSE, GBp): pure-play líquido, grupo Luksic, ~654 kt de cobre (2025).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Pucobre (Santiago, CLP): único pure-play de cobre listado en Chile; ilíquido.</a:t>
            </a:r>
          </a:p>
          <a:p>
            <a:pPr lvl="1">
              <a:spcAft>
                <a:spcPts val="900"/>
              </a:spcAft>
            </a:pPr>
            <a:r>
              <a:rPr sz="1600">
                <a:solidFill>
                  <a:srgbClr val="5A5A5F"/>
                </a:solidFill>
                <a:latin typeface="Calibri"/>
              </a:rPr>
              <a:t>–  62% de días sin transacción — el contraste clave de la tesis.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Panel materiales (CAP, SQM) y referencias internacionales (SCCO, FCX, BHP, GLEN).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703D"/>
                </a:solidFill>
                <a:latin typeface="Calibri"/>
              </a:rPr>
              <a:t>03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6243A"/>
                </a:solidFill>
                <a:latin typeface="Georgia"/>
              </a:rPr>
              <a:t>El modelo nace de los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38100"/>
          </a:xfrm>
          <a:prstGeom prst="rect">
            <a:avLst/>
          </a:prstGeom>
          <a:solidFill>
            <a:srgbClr val="C2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Log-precios I(1), retornos I(0) (ADF/PP/KPSS + Zivot-Andrews).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Corto plazo: regresión HAC, VAR/IRF/FEVD, causalidad de Toda-Yamamoto.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Largo plazo: cointegración de Johansen, VECM, ARDL/NARDL bounds.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Riesgo y micro: GARCH/EGARCH/GJR, panel FE/RE, event study, iliquidez de Amihud.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Identificación: cobre como shock exógeno + cuasi-experimento líquido vs ilíquido.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703D"/>
                </a:solidFill>
                <a:latin typeface="Calibri"/>
              </a:rPr>
              <a:t>04 · Hallazgo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6243A"/>
                </a:solidFill>
                <a:latin typeface="Georgia"/>
              </a:rPr>
              <a:t>La transmisión crece con el horizonte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38100"/>
          </a:xfrm>
          <a:prstGeom prst="rect">
            <a:avLst/>
          </a:prstGeom>
          <a:solidFill>
            <a:srgbClr val="C2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Antofagasta (líquido): elasticidad-cobre 0.70; el cobre explica ~28% de su varianza.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Pucobre (ilíquido): contemporánea ≈ 0.09 (R²=0.04), pero crece con el horizonte:</a:t>
            </a:r>
          </a:p>
          <a:p>
            <a:pPr lvl="1">
              <a:spcAft>
                <a:spcPts val="900"/>
              </a:spcAft>
            </a:pPr>
            <a:r>
              <a:rPr sz="1600">
                <a:solidFill>
                  <a:srgbClr val="5A5A5F"/>
                </a:solidFill>
                <a:latin typeface="Calibri"/>
              </a:rPr>
              <a:t>–  0.09 diaria  →  0.42 acumulada 5d  →  0.60 mensual  →  0.75 largo plazo.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El 95% del impacto llega el día 0 en ANTO; sólo el 29% en Pucobre.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La iliquidez retrasa, pero no elimina, el vínculo fundamental cobre→valoración.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5A5F"/>
                </a:solidFill>
                <a:latin typeface="Calibri"/>
              </a:rPr>
              <a:t>Triangulado por 6 métodos independientes.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703D"/>
                </a:solidFill>
                <a:latin typeface="Calibri"/>
              </a:rPr>
              <a:t>04 · Hallazgo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243A"/>
                </a:solidFill>
                <a:latin typeface="Georgia"/>
              </a:rPr>
              <a:t>Curva de transmisión y ciclo del cobre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38100"/>
          </a:xfrm>
          <a:prstGeom prst="rect">
            <a:avLst/>
          </a:prstGeom>
          <a:solidFill>
            <a:srgbClr val="C2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cios_normaliz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86384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5A5F"/>
                </a:solidFill>
                <a:latin typeface="Calibri"/>
              </a:rPr>
              <a:t>Los pure-plays amplifican el ciclo del cobre (apalancamiento operativo). Pucobre lo sigue con rezago por su iliquidez.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703D"/>
                </a:solidFill>
                <a:latin typeface="Calibri"/>
              </a:rPr>
              <a:t>05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243A"/>
                </a:solidFill>
                <a:latin typeface="Georgia"/>
              </a:rPr>
              <a:t>Elasticidad-cobre contemporánea (HAC)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38100"/>
          </a:xfrm>
          <a:prstGeom prst="rect">
            <a:avLst/>
          </a:prstGeom>
          <a:solidFill>
            <a:srgbClr val="C2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Activo</a:t>
                      </a:r>
                    </a:p>
                  </a:txBody>
                  <a:tcPr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β-cobre</a:t>
                      </a:r>
                    </a:p>
                  </a:txBody>
                  <a:tcPr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624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Antofagasta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15.4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FCX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0.63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10.3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0.53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Glencore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0.29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Southern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0.49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9.6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0.58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BHP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10.7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Pucobre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0.09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4.4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0.04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5A5F"/>
                </a:solidFill>
                <a:latin typeface="Calibri"/>
              </a:rPr>
              <a:t>Pucobre es el atípico de baja transmisión contemporánea pese a ser pure-play.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703D"/>
                </a:solidFill>
                <a:latin typeface="Calibri"/>
              </a:rPr>
              <a:t>05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243A"/>
                </a:solidFill>
                <a:latin typeface="Georgia"/>
              </a:rPr>
              <a:t>Impulso-respuesta: respuesta diferida de Pucobre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38100"/>
          </a:xfrm>
          <a:prstGeom prst="rect">
            <a:avLst/>
          </a:prstGeom>
          <a:solidFill>
            <a:srgbClr val="C2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rf_PUCOBRE_S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86384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5A5F"/>
                </a:solidFill>
                <a:latin typeface="Calibri"/>
              </a:rPr>
              <a:t>La respuesta de Pucobre al shock de cobre se ACUMULA en los días siguientes (IRF 5d ≈ 4× el día 1), no contemporáneamente.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703D"/>
                </a:solidFill>
                <a:latin typeface="Calibri"/>
              </a:rPr>
              <a:t>06 · Largo plazo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243A"/>
                </a:solidFill>
                <a:latin typeface="Georgia"/>
              </a:rPr>
              <a:t>Cointegración (Johansen r=1) y VECM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38100"/>
          </a:xfrm>
          <a:prstGeom prst="rect">
            <a:avLst/>
          </a:prstGeom>
          <a:solidFill>
            <a:srgbClr val="C2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Activo</a:t>
                      </a:r>
                    </a:p>
                  </a:txBody>
                  <a:tcPr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Elast. cobre LP</a:t>
                      </a:r>
                    </a:p>
                  </a:txBody>
                  <a:tcPr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Ajuste α</a:t>
                      </a:r>
                    </a:p>
                  </a:txBody>
                  <a:tcPr>
                    <a:solidFill>
                      <a:srgbClr val="1624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Antofagasta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−0.0008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Pucobre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0.75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−0.0004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5A5F"/>
                </a:solidFill>
                <a:latin typeface="Calibri"/>
              </a:rPr>
              <a:t>En el largo plazo Pucobre (0.75) es comparable a Antofagasta (0.86).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703D"/>
                </a:solidFill>
                <a:latin typeface="Calibri"/>
              </a:rPr>
              <a:t>07 · Iliquidez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243A"/>
                </a:solidFill>
                <a:latin typeface="Georgia"/>
              </a:rPr>
              <a:t>Iliquidez vs transmisión contemporánea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38100"/>
          </a:xfrm>
          <a:prstGeom prst="rect">
            <a:avLst/>
          </a:prstGeom>
          <a:solidFill>
            <a:srgbClr val="C2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liquidez_vs_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384174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5A5F"/>
                </a:solidFill>
                <a:latin typeface="Calibri"/>
              </a:rPr>
              <a:t>Relación negativa robusta a 4 proxies (Amihud, % ceros, Roll, volumen). Pucobre: 62% de días sin transar.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703D"/>
                </a:solidFill>
                <a:latin typeface="Calibri"/>
              </a:rPr>
              <a:t>08 · Robustez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6243A"/>
                </a:solidFill>
                <a:latin typeface="Georgia"/>
              </a:rPr>
              <a:t>Pruebas adicionales de rigor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38100"/>
          </a:xfrm>
          <a:prstGeom prst="rect">
            <a:avLst/>
          </a:prstGeom>
          <a:solidFill>
            <a:srgbClr val="C2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Quiebre estructural (Quandt-Andrews): ANTO duplica su β en 2007 (0.34→0.78);</a:t>
            </a:r>
          </a:p>
          <a:p>
            <a:pPr lvl="1">
              <a:spcAft>
                <a:spcPts val="900"/>
              </a:spcAft>
            </a:pPr>
            <a:r>
              <a:rPr sz="1600">
                <a:solidFill>
                  <a:srgbClr val="5A5A5F"/>
                </a:solidFill>
                <a:latin typeface="Calibri"/>
              </a:rPr>
              <a:t>–  Pucobre sin quiebre — su débil transmisión es estructuralmente estable.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Iliquidez multi-proxy: 4 medidas distintas, mismo signo (robusto).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Fuera de muestra (Clark-West): el cobre rezagado predice Pucobre (p=0.004),</a:t>
            </a:r>
          </a:p>
          <a:p>
            <a:pPr lvl="1">
              <a:spcAft>
                <a:spcPts val="900"/>
              </a:spcAft>
            </a:pPr>
            <a:r>
              <a:rPr sz="1600">
                <a:solidFill>
                  <a:srgbClr val="5A5A5F"/>
                </a:solidFill>
                <a:latin typeface="Calibri"/>
              </a:rPr>
              <a:t>–  más que ANTO; placebo: SQM (litio) no responde (p=0.68).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Volatilidad: persistencia ≈0.99 y efecto apalancamiento (GJR/EGARCH).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NARDL: asimetría de largo plazo significativa en Antofagasta (p=0.004).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703D"/>
                </a:solidFill>
                <a:latin typeface="Calibri"/>
              </a:rPr>
              <a:t>09 · Síntesis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243A"/>
                </a:solidFill>
                <a:latin typeface="Georgia"/>
              </a:rPr>
              <a:t>Verificación de hipótesis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38100"/>
          </a:xfrm>
          <a:prstGeom prst="rect">
            <a:avLst/>
          </a:prstGeom>
          <a:solidFill>
            <a:srgbClr val="C2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Enunciado</a:t>
                      </a:r>
                    </a:p>
                  </a:txBody>
                  <a:tcPr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Veredicto</a:t>
                      </a:r>
                    </a:p>
                  </a:txBody>
                  <a:tcPr>
                    <a:solidFill>
                      <a:srgbClr val="1624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Cobre positivo y significativo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Se sostiene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H2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Sensibilidad según liquidez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Se sostiene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Cointegración de largo plazo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Se sostiene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H4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Volatilidad persistente/asimétrica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Se sostiene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H5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Transmisión diferida (iliquidez)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1D1F"/>
                          </a:solidFill>
                        </a:rPr>
                        <a:t>Se sostiene con fuerza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703D"/>
                </a:solidFill>
                <a:latin typeface="Calibri"/>
              </a:rPr>
              <a:t>10 ·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6243A"/>
                </a:solidFill>
                <a:latin typeface="Georgia"/>
              </a:rPr>
              <a:t>Aportes e implicancias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38100"/>
          </a:xfrm>
          <a:prstGeom prst="rect">
            <a:avLst/>
          </a:prstGeom>
          <a:solidFill>
            <a:srgbClr val="C2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Contribución: curva de transmisión cobre→valoración por horizonte, atribuida a microestructura.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Para inversionistas: una beta diaria subestima la exposición de un ilíquido ~8×.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Para el mercado: cuantifica una ineficiencia de corto plazo por liquidez, no por fundamento.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Líneas futuras: EMBI/BCCh, NARDL dinámico, DCC-GARCH, sorpresa de TPM.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703D"/>
                </a:solidFill>
                <a:latin typeface="Calibri"/>
              </a:rPr>
              <a:t>11 · Defensa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6243A"/>
                </a:solidFill>
                <a:latin typeface="Georgia"/>
              </a:rPr>
              <a:t>Cinco objeciones y respuestas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38100"/>
          </a:xfrm>
          <a:prstGeom prst="rect">
            <a:avLst/>
          </a:prstGeom>
          <a:solidFill>
            <a:srgbClr val="C27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Endogeneidad: Toda-Yamamoto unidireccional cobre→acción; el cobre es global y exógeno.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Quiebres en 22 años: testeados (Quandt-Andrews); el hallazgo es estable.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N pequeño del panel: se reconoce; la inferencia primaria es por serie de tiempo, no panel.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¿Depende de Amihud?: no; robusto a 4 proxies de iliquidez.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D1D1F"/>
                </a:solidFill>
                <a:latin typeface="Calibri"/>
              </a:rPr>
              <a:t>•  Validez externa: confirmado por benchmarks internacionales y placebo (SQM).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La iliquidez retrasa, pero no elimina,
la transmisión del cobre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FD6E2"/>
                </a:solidFill>
                <a:latin typeface="Calibri"/>
              </a:rPr>
              <a:t>Gracias.  ·  github.com/Nikolaaa11/TESIS-FR  ·  web-pi-pied-45.vercel.app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